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Iniciar la clase planteando la gran interrogante del caso.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 la misión y asegurarse de que todos entiendan el foco de hoy.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Escuchar las hipótesis de los estudiantes antes de presentar nuevas pruebas.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las carpetas de pruebas una a una pidiendo lectura en voz 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Monitorear la resolución del caso apoyando a los distintos equipos.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Realizar la autoevaluación con estrellas y recolectar los tickets.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assets/styles/expediente-rei/lup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1800" y="971550"/>
            <a:ext cx="32004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 rot="-180000">
            <a:off x="7132320" y="365760"/>
            <a:ext cx="1645920" cy="457200"/>
          </a:xfrm>
          <a:prstGeom prst="rect">
            <a:avLst/>
          </a:prstGeom>
          <a:noFill/>
          <a:ln w="19050">
            <a:solidFill>
              <a:srgbClr val="EF4444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CONFIDENCIAL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Tema General</a:t>
            </a:r>
            <a:endParaRPr lang="en-US" sz="3200" dirty="0"/>
          </a:p>
        </p:txBody>
      </p:sp>
      <p:sp>
        <p:nvSpPr>
          <p:cNvPr id="6" name="Text 2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Educación Básica / Media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 rot="-60000">
            <a:off x="2514600" y="3657600"/>
            <a:ext cx="4114800" cy="457200"/>
          </a:xfrm>
          <a:prstGeom prst="rect">
            <a:avLst/>
          </a:prstGeom>
          <a:solidFill>
            <a:srgbClr val="FEF08A"/>
          </a:solidFill>
          <a:ln w="12700">
            <a:solidFill>
              <a:srgbClr val="FDE04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¡Misión de detective activada para resolver el misterio!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57200" y="46863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REI DOSSIER  |  DIAPOSITIVA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assets/styles/expediente-rei/ll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365760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MISIÓN DEL DÍA</a:t>
            </a:r>
            <a:endParaRPr lang="en-US" sz="1400" dirty="0"/>
          </a:p>
        </p:txBody>
      </p:sp>
      <p:sp>
        <p:nvSpPr>
          <p:cNvPr id="5" name="Shape 1"/>
          <p:cNvSpPr/>
          <p:nvPr/>
        </p:nvSpPr>
        <p:spPr>
          <a:xfrm rot="-60000">
            <a:off x="457200" y="1280160"/>
            <a:ext cx="2560320" cy="2948940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 rot="-60000">
            <a:off x="548640" y="1371600"/>
            <a:ext cx="237744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01. OBJETIVO
</a:t>
            </a:r>
            <a:pPr indent="0" marL="0">
              <a:buNone/>
            </a:pPr>
            <a:r>
              <a:rPr lang="en-US" sz="1000" dirty="0">
                <a:solidFill>
                  <a:srgbClr val="0C4A6E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Estudiar y comprender los aspectos estructurales del tema.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 rot="90000">
            <a:off x="3291840" y="1280160"/>
            <a:ext cx="2560320" cy="294894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 rot="90000">
            <a:off x="3383280" y="1371600"/>
            <a:ext cx="237744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02. EL FOCO
</a:t>
            </a:r>
            <a:pPr indent="0" marL="0">
              <a:buNone/>
            </a:pPr>
            <a:r>
              <a:rPr lang="en-US" sz="1000" dirty="0">
                <a:solidFill>
                  <a:srgbClr val="78350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Analizar pistas y conectar evidencias para comprender el fondo.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 rot="-30000">
            <a:off x="6126480" y="1280160"/>
            <a:ext cx="2560320" cy="294894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 rot="-30000">
            <a:off x="6217920" y="1371600"/>
            <a:ext cx="237744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03. LA META
</a:t>
            </a:r>
            <a:pPr indent="0" marL="0">
              <a:buNone/>
            </a:pPr>
            <a:r>
              <a:rPr lang="en-US" sz="1000" dirty="0">
                <a:solidFill>
                  <a:srgbClr val="064E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Responder las preguntas clave y cerrar el caso con éxito.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FASE: ACTIVACIÓN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 rot="-60000">
            <a:off x="1828800" y="1280160"/>
            <a:ext cx="5486400" cy="2948940"/>
          </a:xfrm>
          <a:prstGeom prst="rect">
            <a:avLst/>
          </a:prstGeom>
          <a:solidFill>
            <a:srgbClr val="FEF9C3"/>
          </a:solidFill>
          <a:ln w="12700">
            <a:solidFill>
              <a:srgbClr val="FDE047"/>
            </a:solidFill>
            <a:prstDash val="solid"/>
          </a:ln>
        </p:spPr>
      </p:sp>
      <p:pic>
        <p:nvPicPr>
          <p:cNvPr id="5" name="Image 0" descr="/assets/styles/expediente-rei/cl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60000">
            <a:off x="2377440" y="1005840"/>
            <a:ext cx="548640" cy="548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 rot="-60000">
            <a:off x="2194560" y="1645920"/>
            <a:ext cx="4754880" cy="2400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📌 PISTA / PREGUNTA INICIAL
</a:t>
            </a:r>
            <a:pPr indent="0" marL="0">
              <a:buNone/>
            </a:pPr>
            <a:r>
              <a:rPr lang="en-US" sz="1100" i="1" dirty="0">
                <a:solidFill>
                  <a:srgbClr val="78350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•  ¿Qué sabemos sobre este tema?
</a:t>
            </a:r>
            <a:pPr indent="0" marL="0">
              <a:buNone/>
            </a:pPr>
            <a:r>
              <a:rPr lang="en-US" sz="1100" i="1" dirty="0">
                <a:solidFill>
                  <a:srgbClr val="78350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•  ¿Qué misterios o dudas nos genera?
</a:t>
            </a:r>
            <a:pPr indent="0" marL="0">
              <a:buNone/>
            </a:pPr>
            <a:r>
              <a:rPr lang="en-US" sz="1100" i="1" dirty="0">
                <a:solidFill>
                  <a:srgbClr val="78350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•  Reto inicial: Comparte tus ideas con tu compañero de al lado por 2 minutos.
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assets/styles/expediente-rei/carpe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365760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365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EVIDENCIAS RECOPILADAS  |  DESARROLLO</a:t>
            </a:r>
            <a:endParaRPr lang="en-US" sz="1400" dirty="0"/>
          </a:p>
        </p:txBody>
      </p:sp>
      <p:sp>
        <p:nvSpPr>
          <p:cNvPr id="5" name="Shape 1"/>
          <p:cNvSpPr/>
          <p:nvPr/>
        </p:nvSpPr>
        <p:spPr>
          <a:xfrm>
            <a:off x="640080" y="1417320"/>
            <a:ext cx="1371600" cy="274320"/>
          </a:xfrm>
          <a:prstGeom prst="rect">
            <a:avLst/>
          </a:prstGeom>
          <a:solidFill>
            <a:srgbClr val="EFE5CF"/>
          </a:solidFill>
          <a:ln w="12700">
            <a:solidFill>
              <a:srgbClr val="C2B291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1417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85B3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PRUEBA A</a:t>
            </a:r>
            <a:endParaRPr lang="en-US" sz="800" dirty="0"/>
          </a:p>
        </p:txBody>
      </p:sp>
      <p:sp>
        <p:nvSpPr>
          <p:cNvPr id="7" name="Shape 3"/>
          <p:cNvSpPr/>
          <p:nvPr/>
        </p:nvSpPr>
        <p:spPr>
          <a:xfrm>
            <a:off x="457200" y="1645920"/>
            <a:ext cx="2560320" cy="2583180"/>
          </a:xfrm>
          <a:prstGeom prst="rect">
            <a:avLst/>
          </a:prstGeom>
          <a:solidFill>
            <a:srgbClr val="FCF8F0"/>
          </a:solidFill>
          <a:ln w="12700">
            <a:solidFill>
              <a:srgbClr val="C2B291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1737360"/>
            <a:ext cx="2377440" cy="2400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785B3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EVIDENCIA I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Primer concepto esencial para estructurar el análisis.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3474720" y="1417320"/>
            <a:ext cx="1371600" cy="274320"/>
          </a:xfrm>
          <a:prstGeom prst="rect">
            <a:avLst/>
          </a:prstGeom>
          <a:solidFill>
            <a:srgbClr val="EFE5CF"/>
          </a:solidFill>
          <a:ln w="12700">
            <a:solidFill>
              <a:srgbClr val="C2B29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474720" y="1417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85B3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PRUEBA B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3291840" y="1645920"/>
            <a:ext cx="2560320" cy="2583180"/>
          </a:xfrm>
          <a:prstGeom prst="rect">
            <a:avLst/>
          </a:prstGeom>
          <a:solidFill>
            <a:srgbClr val="FCF8F0"/>
          </a:solidFill>
          <a:ln w="12700">
            <a:solidFill>
              <a:srgbClr val="C2B29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383280" y="1737360"/>
            <a:ext cx="2377440" cy="2400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785B3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EVIDENCIA II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Conexión lógica y desarrollo de la evidencia central.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309360" y="1417320"/>
            <a:ext cx="1371600" cy="274320"/>
          </a:xfrm>
          <a:prstGeom prst="rect">
            <a:avLst/>
          </a:prstGeom>
          <a:solidFill>
            <a:srgbClr val="EFE5CF"/>
          </a:solidFill>
          <a:ln w="12700">
            <a:solidFill>
              <a:srgbClr val="C2B29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309360" y="1417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85B3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PRUEBA C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6126480" y="1645920"/>
            <a:ext cx="2560320" cy="2583180"/>
          </a:xfrm>
          <a:prstGeom prst="rect">
            <a:avLst/>
          </a:prstGeom>
          <a:solidFill>
            <a:srgbClr val="FCF8F0"/>
          </a:solidFill>
          <a:ln w="12700">
            <a:solidFill>
              <a:srgbClr val="C2B29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217920" y="1737360"/>
            <a:ext cx="2377440" cy="2400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785B3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EVIDENCIA III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Aplicación directa a la resolución del problema presentado.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FASE: TRABAJO DE CAMPO</a:t>
            </a:r>
            <a:endParaRPr lang="en-US" sz="1400" dirty="0"/>
          </a:p>
        </p:txBody>
      </p:sp>
      <p:pic>
        <p:nvPicPr>
          <p:cNvPr id="4" name="Image 0" descr="/assets/styles/expediente-rei/lup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931670"/>
            <a:ext cx="2011680" cy="201168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 rot="-180000">
            <a:off x="457200" y="1463040"/>
            <a:ext cx="23774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6" name="Text 2"/>
          <p:cNvSpPr/>
          <p:nvPr/>
        </p:nvSpPr>
        <p:spPr>
          <a:xfrm rot="-180000">
            <a:off x="548640" y="155448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4F46E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🔍 PASO 1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Analizar la evidencia recopilada en sus cuadernos.</a:t>
            </a:r>
            <a:endParaRPr lang="en-US" sz="800" dirty="0"/>
          </a:p>
        </p:txBody>
      </p:sp>
      <p:sp>
        <p:nvSpPr>
          <p:cNvPr id="7" name="Shape 3"/>
          <p:cNvSpPr/>
          <p:nvPr/>
        </p:nvSpPr>
        <p:spPr>
          <a:xfrm rot="60000">
            <a:off x="3291840" y="3040380"/>
            <a:ext cx="2560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8" name="Text 4"/>
          <p:cNvSpPr/>
          <p:nvPr/>
        </p:nvSpPr>
        <p:spPr>
          <a:xfrm rot="60000">
            <a:off x="3383280" y="31318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E11D4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✍️ PASO 2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Resolver el caso propuesto trabajando en equipos.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 rot="120000">
            <a:off x="6309360" y="1645920"/>
            <a:ext cx="23774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0" name="Text 6"/>
          <p:cNvSpPr/>
          <p:nvPr/>
        </p:nvSpPr>
        <p:spPr>
          <a:xfrm rot="120000">
            <a:off x="6400800" y="173736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📂 PASO 3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Registrar los hallazgos en la bitácora de investigación.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assets/styles/expediente-rei/cand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365760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365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CASO CERRADO  |  RETROALIMENTACIÓN</a:t>
            </a:r>
            <a:endParaRPr lang="en-US" sz="1400" dirty="0"/>
          </a:p>
        </p:txBody>
      </p:sp>
      <p:sp>
        <p:nvSpPr>
          <p:cNvPr id="5" name="Shape 1"/>
          <p:cNvSpPr/>
          <p:nvPr/>
        </p:nvSpPr>
        <p:spPr>
          <a:xfrm rot="-30000">
            <a:off x="457200" y="1280160"/>
            <a:ext cx="5029200" cy="2948940"/>
          </a:xfrm>
          <a:prstGeom prst="rect">
            <a:avLst/>
          </a:prstGeom>
          <a:solidFill>
            <a:srgbClr val="FEF9C3"/>
          </a:solidFill>
          <a:ln w="25400">
            <a:solidFill>
              <a:srgbClr val="FDE68A"/>
            </a:solidFill>
            <a:prstDash val="dash"/>
          </a:ln>
        </p:spPr>
      </p:sp>
      <p:sp>
        <p:nvSpPr>
          <p:cNvPr id="6" name="Text 2"/>
          <p:cNvSpPr/>
          <p:nvPr/>
        </p:nvSpPr>
        <p:spPr>
          <a:xfrm rot="-30000">
            <a:off x="548640" y="1371600"/>
            <a:ext cx="484632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🎟️ TICKET DE SALIDA
</a:t>
            </a:r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PREGUNTA 1:
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¿Qué fue lo más importante que aprendiste hoy?
</a:t>
            </a:r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PREGUNTA 2:
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¿Qué pista te ayudó a resolver el enigma?
</a:t>
            </a:r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EVIDENCIA A ENTREGAR: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Entrega tu ticket de salida firmado al docente.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 rot="60000">
            <a:off x="5760720" y="1463040"/>
            <a:ext cx="2926080" cy="25831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 rot="60000">
            <a:off x="5852160" y="1645920"/>
            <a:ext cx="2743200" cy="22174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AUTOEVALUACIÓN
</a:t>
            </a:r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⭐ ⭐ ⭐
</a:t>
            </a:r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¿Lograste descifrar todo hoy?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2026-06-24T07:03:48Z</dcterms:created>
  <dcterms:modified xsi:type="dcterms:W3CDTF">2026-06-24T07:03:48Z</dcterms:modified>
</cp:coreProperties>
</file>