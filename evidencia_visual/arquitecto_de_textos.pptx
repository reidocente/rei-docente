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Iniciar la clase planteando la gran interrogante del caso.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Leer la misión y asegurarse de que todos entiendan el foco de hoy.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Escuchar las hipótesis de los estudiantes antes de presentar nuevas pruebas.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Explicar las carpetas de pruebas una a una pidiendo lectura en voz alta.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Monitorear la resolución del caso apoyando a los distintos equipos.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Realizar la autoevaluación con estrellas y recolectar los tickets.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/assets/styles/expediente-rei/lup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71800" y="971550"/>
            <a:ext cx="3200400" cy="32004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 rot="-180000">
            <a:off x="7132320" y="365760"/>
            <a:ext cx="1645920" cy="457200"/>
          </a:xfrm>
          <a:prstGeom prst="rect">
            <a:avLst/>
          </a:prstGeom>
          <a:noFill/>
          <a:ln w="19050">
            <a:solidFill>
              <a:srgbClr val="EF4444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CONFIDENCIAL</a:t>
            </a:r>
            <a:endParaRPr lang="en-US" sz="1000" dirty="0"/>
          </a:p>
        </p:txBody>
      </p:sp>
      <p:sp>
        <p:nvSpPr>
          <p:cNvPr id="5" name="Text 1"/>
          <p:cNvSpPr/>
          <p:nvPr/>
        </p:nvSpPr>
        <p:spPr>
          <a:xfrm>
            <a:off x="731520" y="1645920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Revolución Industrial y sus consecuencias socioeconómicas</a:t>
            </a:r>
            <a:endParaRPr lang="en-US" sz="3200" dirty="0"/>
          </a:p>
        </p:txBody>
      </p:sp>
      <p:sp>
        <p:nvSpPr>
          <p:cNvPr id="6" name="Text 2"/>
          <p:cNvSpPr/>
          <p:nvPr/>
        </p:nvSpPr>
        <p:spPr>
          <a:xfrm>
            <a:off x="731520" y="283464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Planificación REI Docente</a:t>
            </a:r>
            <a:endParaRPr lang="en-US" sz="1400" dirty="0"/>
          </a:p>
        </p:txBody>
      </p:sp>
      <p:sp>
        <p:nvSpPr>
          <p:cNvPr id="7" name="Text 3"/>
          <p:cNvSpPr/>
          <p:nvPr/>
        </p:nvSpPr>
        <p:spPr>
          <a:xfrm rot="-60000">
            <a:off x="2514600" y="3657600"/>
            <a:ext cx="4114800" cy="457200"/>
          </a:xfrm>
          <a:prstGeom prst="rect">
            <a:avLst/>
          </a:prstGeom>
          <a:solidFill>
            <a:srgbClr val="FEF08A"/>
          </a:solidFill>
          <a:ln w="12700">
            <a:solidFill>
              <a:srgbClr val="FDE047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¡Misión de detective activada para resolver el misterio!</a:t>
            </a:r>
            <a:endParaRPr lang="en-US" sz="1100" dirty="0"/>
          </a:p>
        </p:txBody>
      </p:sp>
      <p:sp>
        <p:nvSpPr>
          <p:cNvPr id="8" name="Text 4"/>
          <p:cNvSpPr/>
          <p:nvPr/>
        </p:nvSpPr>
        <p:spPr>
          <a:xfrm>
            <a:off x="457200" y="46863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REI DOSSIER  |  DIAPOSITIVA 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/assets/styles/expediente-rei/llav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65760"/>
            <a:ext cx="365760" cy="36576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914400" y="3657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MISIÓN DEL DÍA</a:t>
            </a:r>
            <a:endParaRPr lang="en-US" sz="1400" dirty="0"/>
          </a:p>
        </p:txBody>
      </p:sp>
      <p:sp>
        <p:nvSpPr>
          <p:cNvPr id="5" name="Shape 1"/>
          <p:cNvSpPr/>
          <p:nvPr/>
        </p:nvSpPr>
        <p:spPr>
          <a:xfrm rot="-60000">
            <a:off x="457200" y="1280160"/>
            <a:ext cx="2560320" cy="2948940"/>
          </a:xfrm>
          <a:prstGeom prst="rect">
            <a:avLst/>
          </a:prstGeom>
          <a:solidFill>
            <a:srgbClr val="F0F9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 rot="-60000">
            <a:off x="548640" y="1371600"/>
            <a:ext cx="2377440" cy="27660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01. OBJETIVO
</a:t>
            </a:r>
            <a:pPr indent="0" marL="0">
              <a:buNone/>
            </a:pPr>
            <a:r>
              <a:rPr lang="en-US" sz="1000" dirty="0">
                <a:solidFill>
                  <a:srgbClr val="0C4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Estudiar y comprender los aspectos estructurales del tema.</a:t>
            </a:r>
            <a:endParaRPr lang="en-US" sz="900" dirty="0"/>
          </a:p>
        </p:txBody>
      </p:sp>
      <p:sp>
        <p:nvSpPr>
          <p:cNvPr id="7" name="Shape 3"/>
          <p:cNvSpPr/>
          <p:nvPr/>
        </p:nvSpPr>
        <p:spPr>
          <a:xfrm rot="90000">
            <a:off x="3291840" y="1280160"/>
            <a:ext cx="2560320" cy="2948940"/>
          </a:xfrm>
          <a:prstGeom prst="rect">
            <a:avLst/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 rot="90000">
            <a:off x="3383280" y="1371600"/>
            <a:ext cx="2377440" cy="27660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02. EL FOCO
</a:t>
            </a:r>
            <a:pPr indent="0" marL="0">
              <a:buNone/>
            </a:pPr>
            <a:r>
              <a:rPr lang="en-US" sz="1000" dirty="0">
                <a:solidFill>
                  <a:srgbClr val="7835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Analizar pistas y conectar evidencias para comprender el fondo.</a:t>
            </a:r>
            <a:endParaRPr lang="en-US" sz="900" dirty="0"/>
          </a:p>
        </p:txBody>
      </p:sp>
      <p:sp>
        <p:nvSpPr>
          <p:cNvPr id="9" name="Shape 5"/>
          <p:cNvSpPr/>
          <p:nvPr/>
        </p:nvSpPr>
        <p:spPr>
          <a:xfrm rot="-30000">
            <a:off x="6126480" y="1280160"/>
            <a:ext cx="2560320" cy="2948940"/>
          </a:xfrm>
          <a:prstGeom prst="rect">
            <a:avLst/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 rot="-30000">
            <a:off x="6217920" y="1371600"/>
            <a:ext cx="2377440" cy="27660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03. LA META
</a:t>
            </a:r>
            <a:pPr indent="0" marL="0">
              <a:buNone/>
            </a:pPr>
            <a:r>
              <a:rPr lang="en-US" sz="1000" dirty="0">
                <a:solidFill>
                  <a:srgbClr val="064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Responder las preguntas clave y cerrar el caso con éxito.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57200" y="3657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FASE: ACTIVACIÓN</a:t>
            </a:r>
            <a:endParaRPr lang="en-US" sz="1400" dirty="0"/>
          </a:p>
        </p:txBody>
      </p:sp>
      <p:sp>
        <p:nvSpPr>
          <p:cNvPr id="4" name="Shape 1"/>
          <p:cNvSpPr/>
          <p:nvPr/>
        </p:nvSpPr>
        <p:spPr>
          <a:xfrm rot="-60000">
            <a:off x="1828800" y="1280160"/>
            <a:ext cx="5486400" cy="2948940"/>
          </a:xfrm>
          <a:prstGeom prst="rect">
            <a:avLst/>
          </a:prstGeom>
          <a:solidFill>
            <a:srgbClr val="FEF9C3"/>
          </a:solidFill>
          <a:ln w="12700">
            <a:solidFill>
              <a:srgbClr val="FDE047"/>
            </a:solidFill>
            <a:prstDash val="solid"/>
          </a:ln>
        </p:spPr>
      </p:sp>
      <p:pic>
        <p:nvPicPr>
          <p:cNvPr id="5" name="Image 0" descr="/assets/styles/expediente-rei/cli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-60000">
            <a:off x="2377440" y="1005840"/>
            <a:ext cx="548640" cy="54864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 rot="-60000">
            <a:off x="2194560" y="1645920"/>
            <a:ext cx="4754880" cy="24003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📌 PISTA / PREGUNTA INICIAL
</a:t>
            </a:r>
            <a:pPr indent="0" marL="0">
              <a:buNone/>
            </a:pPr>
            <a:r>
              <a:rPr lang="en-US" sz="1100" i="1" dirty="0">
                <a:solidFill>
                  <a:srgbClr val="7835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¿Qué sabemos sobre este tema?
</a:t>
            </a:r>
            <a:pPr indent="0" marL="0">
              <a:buNone/>
            </a:pPr>
            <a:r>
              <a:rPr lang="en-US" sz="1100" i="1" dirty="0">
                <a:solidFill>
                  <a:srgbClr val="7835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¿Qué misterios o dudas nos genera?
</a:t>
            </a:r>
            <a:pPr indent="0" marL="0">
              <a:buNone/>
            </a:pPr>
            <a:r>
              <a:rPr lang="en-US" sz="1100" i="1" dirty="0">
                <a:solidFill>
                  <a:srgbClr val="7835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Reto inicial: Comparte tus ideas con tu compañero de al lado por 2 minutos.
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/assets/styles/expediente-rei/carpet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65760"/>
            <a:ext cx="365760" cy="36576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914400" y="36576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EVIDENCIAS RECOPILADAS  |  DESARROLLO</a:t>
            </a:r>
            <a:endParaRPr lang="en-US" sz="1400" dirty="0"/>
          </a:p>
        </p:txBody>
      </p:sp>
      <p:sp>
        <p:nvSpPr>
          <p:cNvPr id="5" name="Shape 1"/>
          <p:cNvSpPr/>
          <p:nvPr/>
        </p:nvSpPr>
        <p:spPr>
          <a:xfrm>
            <a:off x="640080" y="1417320"/>
            <a:ext cx="1371600" cy="274320"/>
          </a:xfrm>
          <a:prstGeom prst="rect">
            <a:avLst/>
          </a:prstGeom>
          <a:solidFill>
            <a:srgbClr val="EFE5CF"/>
          </a:solidFill>
          <a:ln w="12700">
            <a:solidFill>
              <a:srgbClr val="C2B291"/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640080" y="14173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785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PRUEBA A</a:t>
            </a:r>
            <a:endParaRPr lang="en-US" sz="800" dirty="0"/>
          </a:p>
        </p:txBody>
      </p:sp>
      <p:sp>
        <p:nvSpPr>
          <p:cNvPr id="7" name="Shape 3"/>
          <p:cNvSpPr/>
          <p:nvPr/>
        </p:nvSpPr>
        <p:spPr>
          <a:xfrm>
            <a:off x="457200" y="1645920"/>
            <a:ext cx="2560320" cy="2583180"/>
          </a:xfrm>
          <a:prstGeom prst="rect">
            <a:avLst/>
          </a:prstGeom>
          <a:solidFill>
            <a:srgbClr val="FCF8F0"/>
          </a:solidFill>
          <a:ln w="12700">
            <a:solidFill>
              <a:srgbClr val="C2B291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548640" y="1737360"/>
            <a:ext cx="2377440" cy="24003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785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EVIDENCIA I
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Primer concepto esencial para estructurar el análisis.</a:t>
            </a:r>
            <a:endParaRPr lang="en-US" sz="900" dirty="0"/>
          </a:p>
        </p:txBody>
      </p:sp>
      <p:sp>
        <p:nvSpPr>
          <p:cNvPr id="9" name="Shape 5"/>
          <p:cNvSpPr/>
          <p:nvPr/>
        </p:nvSpPr>
        <p:spPr>
          <a:xfrm>
            <a:off x="3474720" y="1417320"/>
            <a:ext cx="1371600" cy="274320"/>
          </a:xfrm>
          <a:prstGeom prst="rect">
            <a:avLst/>
          </a:prstGeom>
          <a:solidFill>
            <a:srgbClr val="EFE5CF"/>
          </a:solidFill>
          <a:ln w="12700">
            <a:solidFill>
              <a:srgbClr val="C2B291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3474720" y="14173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785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PRUEBA B</a:t>
            </a:r>
            <a:endParaRPr lang="en-US" sz="800" dirty="0"/>
          </a:p>
        </p:txBody>
      </p:sp>
      <p:sp>
        <p:nvSpPr>
          <p:cNvPr id="11" name="Shape 7"/>
          <p:cNvSpPr/>
          <p:nvPr/>
        </p:nvSpPr>
        <p:spPr>
          <a:xfrm>
            <a:off x="3291840" y="1645920"/>
            <a:ext cx="2560320" cy="2583180"/>
          </a:xfrm>
          <a:prstGeom prst="rect">
            <a:avLst/>
          </a:prstGeom>
          <a:solidFill>
            <a:srgbClr val="FCF8F0"/>
          </a:solidFill>
          <a:ln w="12700">
            <a:solidFill>
              <a:srgbClr val="C2B291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3383280" y="1737360"/>
            <a:ext cx="2377440" cy="24003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785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EVIDENCIA II
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Conexión lógica y desarrollo de la evidencia central.</a:t>
            </a:r>
            <a:endParaRPr lang="en-US" sz="900" dirty="0"/>
          </a:p>
        </p:txBody>
      </p:sp>
      <p:sp>
        <p:nvSpPr>
          <p:cNvPr id="13" name="Shape 9"/>
          <p:cNvSpPr/>
          <p:nvPr/>
        </p:nvSpPr>
        <p:spPr>
          <a:xfrm>
            <a:off x="6309360" y="1417320"/>
            <a:ext cx="1371600" cy="274320"/>
          </a:xfrm>
          <a:prstGeom prst="rect">
            <a:avLst/>
          </a:prstGeom>
          <a:solidFill>
            <a:srgbClr val="EFE5CF"/>
          </a:solidFill>
          <a:ln w="12700">
            <a:solidFill>
              <a:srgbClr val="C2B291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6309360" y="14173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785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PRUEBA C</a:t>
            </a:r>
            <a:endParaRPr lang="en-US" sz="800" dirty="0"/>
          </a:p>
        </p:txBody>
      </p:sp>
      <p:sp>
        <p:nvSpPr>
          <p:cNvPr id="15" name="Shape 11"/>
          <p:cNvSpPr/>
          <p:nvPr/>
        </p:nvSpPr>
        <p:spPr>
          <a:xfrm>
            <a:off x="6126480" y="1645920"/>
            <a:ext cx="2560320" cy="2583180"/>
          </a:xfrm>
          <a:prstGeom prst="rect">
            <a:avLst/>
          </a:prstGeom>
          <a:solidFill>
            <a:srgbClr val="FCF8F0"/>
          </a:solidFill>
          <a:ln w="12700">
            <a:solidFill>
              <a:srgbClr val="C2B291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6217920" y="1737360"/>
            <a:ext cx="2377440" cy="24003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785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EVIDENCIA III
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Aplicación directa a la resolución del problema presentado.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57200" y="3657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FASE: TRABAJO DE CAMPO</a:t>
            </a:r>
            <a:endParaRPr lang="en-US" sz="1400" dirty="0"/>
          </a:p>
        </p:txBody>
      </p:sp>
      <p:pic>
        <p:nvPicPr>
          <p:cNvPr id="4" name="Image 0" descr="/assets/styles/expediente-rei/lup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66160" y="1931670"/>
            <a:ext cx="2011680" cy="2011680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 rot="-180000">
            <a:off x="457200" y="1463040"/>
            <a:ext cx="237744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dash"/>
          </a:ln>
        </p:spPr>
      </p:sp>
      <p:sp>
        <p:nvSpPr>
          <p:cNvPr id="6" name="Text 2"/>
          <p:cNvSpPr/>
          <p:nvPr/>
        </p:nvSpPr>
        <p:spPr>
          <a:xfrm rot="-180000">
            <a:off x="548640" y="1554480"/>
            <a:ext cx="21945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🔍 PASO 1
</a:t>
            </a:r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Analizar la evidencia recopilada en sus cuadernos.</a:t>
            </a:r>
            <a:endParaRPr lang="en-US" sz="800" dirty="0"/>
          </a:p>
        </p:txBody>
      </p:sp>
      <p:sp>
        <p:nvSpPr>
          <p:cNvPr id="7" name="Shape 3"/>
          <p:cNvSpPr/>
          <p:nvPr/>
        </p:nvSpPr>
        <p:spPr>
          <a:xfrm rot="60000">
            <a:off x="3291840" y="3040380"/>
            <a:ext cx="256032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dash"/>
          </a:ln>
        </p:spPr>
      </p:sp>
      <p:sp>
        <p:nvSpPr>
          <p:cNvPr id="8" name="Text 4"/>
          <p:cNvSpPr/>
          <p:nvPr/>
        </p:nvSpPr>
        <p:spPr>
          <a:xfrm rot="60000">
            <a:off x="3383280" y="3131820"/>
            <a:ext cx="23774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E11D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✍️ PASO 2
</a:t>
            </a:r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Resolver el caso propuesto trabajando en equipos.</a:t>
            </a:r>
            <a:endParaRPr lang="en-US" sz="800" dirty="0"/>
          </a:p>
        </p:txBody>
      </p:sp>
      <p:sp>
        <p:nvSpPr>
          <p:cNvPr id="9" name="Shape 5"/>
          <p:cNvSpPr/>
          <p:nvPr/>
        </p:nvSpPr>
        <p:spPr>
          <a:xfrm rot="120000">
            <a:off x="6309360" y="1645920"/>
            <a:ext cx="237744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dash"/>
          </a:ln>
        </p:spPr>
      </p:sp>
      <p:sp>
        <p:nvSpPr>
          <p:cNvPr id="10" name="Text 6"/>
          <p:cNvSpPr/>
          <p:nvPr/>
        </p:nvSpPr>
        <p:spPr>
          <a:xfrm rot="120000">
            <a:off x="6400800" y="1737360"/>
            <a:ext cx="21945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📂 PASO 3
</a:t>
            </a:r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Registrar los hallazgos en la bitácora de investigación.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/assets/styles/expediente-rei/candad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65760"/>
            <a:ext cx="365760" cy="36576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914400" y="36576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CASO CERRADO  |  RETROALIMENTACIÓN</a:t>
            </a:r>
            <a:endParaRPr lang="en-US" sz="1400" dirty="0"/>
          </a:p>
        </p:txBody>
      </p:sp>
      <p:sp>
        <p:nvSpPr>
          <p:cNvPr id="5" name="Shape 1"/>
          <p:cNvSpPr/>
          <p:nvPr/>
        </p:nvSpPr>
        <p:spPr>
          <a:xfrm rot="-30000">
            <a:off x="457200" y="1280160"/>
            <a:ext cx="5029200" cy="2948940"/>
          </a:xfrm>
          <a:prstGeom prst="rect">
            <a:avLst/>
          </a:prstGeom>
          <a:solidFill>
            <a:srgbClr val="FEF9C3"/>
          </a:solidFill>
          <a:ln w="25400">
            <a:solidFill>
              <a:srgbClr val="FDE68A"/>
            </a:solidFill>
            <a:prstDash val="dash"/>
          </a:ln>
        </p:spPr>
      </p:sp>
      <p:sp>
        <p:nvSpPr>
          <p:cNvPr id="6" name="Text 2"/>
          <p:cNvSpPr/>
          <p:nvPr/>
        </p:nvSpPr>
        <p:spPr>
          <a:xfrm rot="-30000">
            <a:off x="548640" y="1371600"/>
            <a:ext cx="4846320" cy="27660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🎟️ TICKET DE SALIDA
</a:t>
            </a:r>
            <a:pPr indent="0" marL="0">
              <a:buNone/>
            </a:pPr>
            <a:r>
              <a:rPr lang="en-US" sz="7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PREGUNTA 1:
</a:t>
            </a:r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¿Qué fue lo más importante que aprendiste hoy?
</a:t>
            </a:r>
            <a:pPr indent="0" marL="0">
              <a:buNone/>
            </a:pPr>
            <a:r>
              <a:rPr lang="en-US" sz="7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PREGUNTA 2:
</a:t>
            </a:r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¿Qué pista te ayudó a resolver el enigma?
</a:t>
            </a:r>
            <a:pPr indent="0" marL="0">
              <a:buNone/>
            </a:pPr>
            <a:r>
              <a:rPr lang="en-US" sz="7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EVIDENCIA A ENTREGAR:
</a:t>
            </a:r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Entrega tu ticket de salida firmado al docente.</a:t>
            </a:r>
            <a:endParaRPr lang="en-US" sz="1000" dirty="0"/>
          </a:p>
        </p:txBody>
      </p:sp>
      <p:sp>
        <p:nvSpPr>
          <p:cNvPr id="7" name="Shape 3"/>
          <p:cNvSpPr/>
          <p:nvPr/>
        </p:nvSpPr>
        <p:spPr>
          <a:xfrm rot="60000">
            <a:off x="5760720" y="1463040"/>
            <a:ext cx="2926080" cy="25831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 rot="60000">
            <a:off x="5852160" y="1645920"/>
            <a:ext cx="2743200" cy="22174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AUTOEVALUACIÓN
</a:t>
            </a:r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⭐ ⭐ ⭐
</a:t>
            </a:r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¿Lograste descifrar todo hoy?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2026-06-24T07:38:16Z</dcterms:created>
  <dcterms:modified xsi:type="dcterms:W3CDTF">2026-06-24T07:38:16Z</dcterms:modified>
</cp:coreProperties>
</file>